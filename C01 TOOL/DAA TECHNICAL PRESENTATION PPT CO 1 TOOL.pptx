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6" r:id="rId10"/>
    <p:sldId id="267" r:id="rId11"/>
    <p:sldId id="268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2" d="100"/>
          <a:sy n="72" d="100"/>
        </p:scale>
        <p:origin x="110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FD6596-3141-4B44-AF07-88A46CF8FD8F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F1DADAA-E4D6-48AB-96DD-BC9B6DC770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25537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3878B6-E46B-3A8A-5AA6-BEE4851B57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95CBD96-3A09-8532-0B94-64984A3AD0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5ED6A4-AC37-237C-E861-D0EBBEC9CC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8251B0-FAE2-4C80-A955-79F2795D7CBA}" type="datetime1">
              <a:rPr lang="en-IN" smtClean="0"/>
              <a:t>20-07-2026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DD0EC9-B375-352A-4099-BA6FE9B208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0F6C84-ADF0-CC9D-8E73-175710E808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23ABD9-E88D-4628-9C79-79D67CFFA5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26534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4E4620-F724-E5B7-B870-EF39084112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C52F71-97BB-6030-676C-0DE5B63918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8F8624-779A-B028-E5C1-4C49D98150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B3F41B-00A2-4DB7-8F37-5B163DB2DFF4}" type="datetime1">
              <a:rPr lang="en-IN" smtClean="0"/>
              <a:t>20-07-2026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8055BA-2211-7927-4519-5895D28BE1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BA6326-E675-605F-6379-F2B62D7362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23ABD9-E88D-4628-9C79-79D67CFFA5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13911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F62428-7DE9-0882-C233-71CCE9546C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25CFD2-1DA8-BDC2-3382-150110B1D6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AF06AC-2191-9C2C-4EDF-DA6E4A8301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B78137-34F7-49CB-8A33-72B2D4785F33}" type="datetime1">
              <a:rPr lang="en-IN" smtClean="0"/>
              <a:t>20-07-2026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95AD4B-1387-FA0F-DE08-B1B31F06BA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0379C6-5F6C-1A29-6FC7-0B18084A46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23ABD9-E88D-4628-9C79-79D67CFFA5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34199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023237-D666-53AD-4E24-3F29BA5232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5ADDAE-1BC3-CB89-33F9-393669C7B18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92B0BE9-0698-C9FF-CE86-AA25CE3DF8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F9D28B-10EB-9F80-DAC2-3E068A9449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CA0EC-FCDF-416A-9645-498C5803A033}" type="datetime1">
              <a:rPr lang="en-IN" smtClean="0"/>
              <a:t>20-07-2026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87FCAC-F814-B73B-A581-48218FE5C7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226BC5-F813-7E68-8920-172903C4CD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23ABD9-E88D-4628-9C79-79D67CFFA5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45837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8AEFF2-BDFB-5681-D5F8-787F21837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196328-983C-B97C-F86E-F1E8CA2AB3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72DDAEC-ADF5-84AC-F8B6-4F5AD55F44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A3BEA35-F047-F3A4-357D-B70E0DD0637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A5E1816-753D-9E49-83F4-0D805160A38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3DAA8C-18D5-CBBC-5468-AD78594DAF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CA3E0-4E29-4A92-BF7B-16600506A234}" type="datetime1">
              <a:rPr lang="en-IN" smtClean="0"/>
              <a:t>20-07-2026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518B038-0B29-0A14-A391-E096B09DE7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3ADA9F8-9529-C160-BE4B-051935F46F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23ABD9-E88D-4628-9C79-79D67CFFA5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03361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765F8E-8F4A-B8BA-D155-9AD90F5C40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4C7745E-1174-8334-05EA-BF8DAA1A6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014F95-39D3-4275-8BCC-EFFC94812288}" type="datetime1">
              <a:rPr lang="en-IN" smtClean="0"/>
              <a:t>20-07-2026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525AAD-8B27-2A03-84D6-67B8428839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48BEEE7-BE39-791E-18A4-A1FA503AFE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23ABD9-E88D-4628-9C79-79D67CFFA5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76089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E00D4E0-E479-85C4-E550-94F43B9442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B4D41D-BAB9-4D3D-BE04-EE642E84209A}" type="datetime1">
              <a:rPr lang="en-IN" smtClean="0"/>
              <a:t>20-07-2026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BA24EBE-6CCC-5889-C978-CF91CE17C8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607F97-6273-D964-2C13-AE21BDEC78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23ABD9-E88D-4628-9C79-79D67CFFA5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48378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F4EF5F-AA67-E3A0-0B2F-2F15927303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A7067A-ED3C-92EC-75A2-2F91C5E1CE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CA49A3-5801-D9E2-744F-1FC36493D8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EFAB38-3147-19C6-82DF-539F14976A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6FD4C-0956-4D5C-A4F5-A54A5AE41E4A}" type="datetime1">
              <a:rPr lang="en-IN" smtClean="0"/>
              <a:t>20-07-2026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A0E2FF-CFDC-2B0D-7D9B-1447E4A2D5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DFE465-0722-76EB-8E2D-CD106B8430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23ABD9-E88D-4628-9C79-79D67CFFA5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63607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7094A5-3590-54A7-5BE9-C207F56806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60755B3-C82F-BA67-6789-A63A23EA3CC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4D10D1-2F1B-4A88-A96E-3EFA6FAE2D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4BFFBB-1452-A0ED-53D8-2F83C79133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71FBCC-1D7D-4B75-A3D2-CF3F59E41865}" type="datetime1">
              <a:rPr lang="en-IN" smtClean="0"/>
              <a:t>20-07-2026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37DAB0-8BBC-4E4D-D1EB-62943F40B7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E0F779-DD3E-354F-E8E5-6AE384B3FE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23ABD9-E88D-4628-9C79-79D67CFFA5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96445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73BC4-15AF-9054-CAFE-38C32C4F3A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6C72E06-B02B-E6BF-B588-C22B13C0B8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1B3FA5-4A03-6F0B-819D-26CE7DDCE8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65C26E-220D-4C62-A753-FD4FC97018D3}" type="datetime1">
              <a:rPr lang="en-IN" smtClean="0"/>
              <a:t>20-07-2026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D31676-DB9E-2CA0-A0C6-60683CBD4E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7D759E-B5C1-D2AB-5E51-999CC2B887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23ABD9-E88D-4628-9C79-79D67CFFA5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6412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1588DD8-6CBE-C133-3C19-B17D85BDE6F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A119427-20F8-2D1B-5D77-8D2DF6BDEF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3E8C25-5A07-F698-CE4D-9243A09B8D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663E64-F240-4B42-8357-D45178F678D2}" type="datetime1">
              <a:rPr lang="en-IN" smtClean="0"/>
              <a:t>20-07-2026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A994EC-C732-93AE-7CE2-A475CFE24E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312057-491C-7809-242C-A2ED520BB7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23ABD9-E88D-4628-9C79-79D67CFFA5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09897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017A0B-C044-D5B3-FF57-6B611BABB2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5A62FA-6B9F-F92B-EA6A-CD01AB8B55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540E57-86CA-4588-AED4-02B6FE5445E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F3E048-395E-4C83-B7C3-1E3311BE34DB}" type="datetime1">
              <a:rPr lang="en-IN" smtClean="0"/>
              <a:t>20-07-2026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9811D5-11C2-E23F-3AF6-A5767EAFAF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BB15D9-7965-4C0D-F67F-BE6902BD9B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23ABD9-E88D-4628-9C79-79D67CFFA5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94538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CB88E1-4158-47E7-0E91-1AA8C07033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313498"/>
            <a:ext cx="12025086" cy="841830"/>
          </a:xfrm>
        </p:spPr>
        <p:txBody>
          <a:bodyPr>
            <a:normAutofit fontScale="90000"/>
          </a:bodyPr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 Comparison Based on Input Size Scaling Comparing Time Complexities: O(n²) vs O(n³)</a:t>
            </a:r>
            <a:br>
              <a:rPr lang="en-IN" sz="3600" b="1" dirty="0"/>
            </a:b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F6C062AB-02B4-70F2-4BAB-6F53C8D20533}"/>
              </a:ext>
            </a:extLst>
          </p:cNvPr>
          <p:cNvSpPr txBox="1">
            <a:spLocks/>
          </p:cNvSpPr>
          <p:nvPr/>
        </p:nvSpPr>
        <p:spPr>
          <a:xfrm>
            <a:off x="1356918" y="3385711"/>
            <a:ext cx="9144000" cy="5950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CSA0667-Design And Analysis Of Algorithm</a:t>
            </a:r>
            <a:endParaRPr lang="en-IN" sz="3200" dirty="0">
              <a:solidFill>
                <a:srgbClr val="FF0000"/>
              </a:solidFill>
            </a:endParaRP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BD7848FE-13FC-8EC6-E31D-47F3901D660F}"/>
              </a:ext>
            </a:extLst>
          </p:cNvPr>
          <p:cNvSpPr txBox="1">
            <a:spLocks/>
          </p:cNvSpPr>
          <p:nvPr/>
        </p:nvSpPr>
        <p:spPr>
          <a:xfrm>
            <a:off x="6454138" y="4893009"/>
            <a:ext cx="6727372" cy="23150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 By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S. Prateeksha (192572137)</a:t>
            </a:r>
          </a:p>
          <a:p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35AD9100-F478-7EAA-BDDF-3885CC87EE17}"/>
              </a:ext>
            </a:extLst>
          </p:cNvPr>
          <p:cNvSpPr/>
          <p:nvPr/>
        </p:nvSpPr>
        <p:spPr>
          <a:xfrm>
            <a:off x="130629" y="181429"/>
            <a:ext cx="3592285" cy="841829"/>
          </a:xfrm>
          <a:custGeom>
            <a:avLst/>
            <a:gdLst/>
            <a:ahLst/>
            <a:cxnLst/>
            <a:rect l="l" t="t" r="r" b="b"/>
            <a:pathLst>
              <a:path w="5730575" h="1433309">
                <a:moveTo>
                  <a:pt x="0" y="0"/>
                </a:moveTo>
                <a:lnTo>
                  <a:pt x="5730575" y="0"/>
                </a:lnTo>
                <a:lnTo>
                  <a:pt x="5730575" y="1433310"/>
                </a:lnTo>
                <a:lnTo>
                  <a:pt x="0" y="143331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104442"/>
            </a:stretch>
          </a:blipFill>
        </p:spPr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96650564-9742-89B0-68D8-109EC91D293B}"/>
              </a:ext>
            </a:extLst>
          </p:cNvPr>
          <p:cNvSpPr/>
          <p:nvPr/>
        </p:nvSpPr>
        <p:spPr>
          <a:xfrm>
            <a:off x="8367486" y="174171"/>
            <a:ext cx="3657600" cy="986972"/>
          </a:xfrm>
          <a:custGeom>
            <a:avLst/>
            <a:gdLst/>
            <a:ahLst/>
            <a:cxnLst/>
            <a:rect l="l" t="t" r="r" b="b"/>
            <a:pathLst>
              <a:path w="5727807" h="1433309">
                <a:moveTo>
                  <a:pt x="0" y="0"/>
                </a:moveTo>
                <a:lnTo>
                  <a:pt x="5727807" y="0"/>
                </a:lnTo>
                <a:lnTo>
                  <a:pt x="5727807" y="1433310"/>
                </a:lnTo>
                <a:lnTo>
                  <a:pt x="0" y="143331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4541"/>
            </a:stretch>
          </a:blipFill>
        </p:spPr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4FE329F-393E-44A9-D13D-9FFD5C2EBC1C}"/>
              </a:ext>
            </a:extLst>
          </p:cNvPr>
          <p:cNvSpPr txBox="1"/>
          <p:nvPr/>
        </p:nvSpPr>
        <p:spPr>
          <a:xfrm>
            <a:off x="1" y="5234426"/>
            <a:ext cx="4678326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Guide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Dr.M.Manikandan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AD6AA2-0EAE-B16F-C296-BDFEE7F629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23ABD9-E88D-4628-9C79-79D67CFFA512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14195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8F4485-3380-462E-C377-8740EE6D20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613D9A-B00A-4C0B-DB01-467B131750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66456" y="559645"/>
            <a:ext cx="4680857" cy="956930"/>
          </a:xfrm>
        </p:spPr>
        <p:txBody>
          <a:bodyPr>
            <a:norm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0B96C81-972D-DB42-6FFA-A4B5044B8D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16493" y="1516575"/>
            <a:ext cx="10151729" cy="5079999"/>
          </a:xfrm>
        </p:spPr>
        <p:txBody>
          <a:bodyPr>
            <a:normAutofit lnSpcReduction="10000"/>
          </a:bodyPr>
          <a:lstStyle/>
          <a:p>
            <a:pPr marL="342900" indent="-342900" algn="l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are step-by-step procedures used to solve computational problems efficiently.</a:t>
            </a:r>
          </a:p>
          <a:p>
            <a:pPr marL="342900" indent="-342900" algn="l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complexity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measures how the execution time or number of operations increases as the input size grows. This comparison focuses on two algorithms with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O(n²)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O(n³)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time complexities. </a:t>
            </a:r>
          </a:p>
          <a:p>
            <a:pPr marL="342900" indent="-342900" algn="l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Increasing input sizes are used to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compare the performance of both algorithms through tables and graphs.</a:t>
            </a:r>
          </a:p>
          <a:p>
            <a:pPr marL="342900" indent="-342900" algn="l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goal is to identify which algorithm scales better and is more suitable for handling larger datasets efficiently. </a:t>
            </a:r>
          </a:p>
        </p:txBody>
      </p:sp>
      <p:sp>
        <p:nvSpPr>
          <p:cNvPr id="9" name="Freeform 5">
            <a:extLst>
              <a:ext uri="{FF2B5EF4-FFF2-40B4-BE49-F238E27FC236}">
                <a16:creationId xmlns:a16="http://schemas.microsoft.com/office/drawing/2014/main" id="{8C23CDA6-B05F-9D2C-AB0C-908E0729E707}"/>
              </a:ext>
            </a:extLst>
          </p:cNvPr>
          <p:cNvSpPr/>
          <p:nvPr/>
        </p:nvSpPr>
        <p:spPr>
          <a:xfrm>
            <a:off x="130629" y="181429"/>
            <a:ext cx="3592285" cy="841829"/>
          </a:xfrm>
          <a:custGeom>
            <a:avLst/>
            <a:gdLst/>
            <a:ahLst/>
            <a:cxnLst/>
            <a:rect l="l" t="t" r="r" b="b"/>
            <a:pathLst>
              <a:path w="5730575" h="1433309">
                <a:moveTo>
                  <a:pt x="0" y="0"/>
                </a:moveTo>
                <a:lnTo>
                  <a:pt x="5730575" y="0"/>
                </a:lnTo>
                <a:lnTo>
                  <a:pt x="5730575" y="1433310"/>
                </a:lnTo>
                <a:lnTo>
                  <a:pt x="0" y="143331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104442"/>
            </a:stretch>
          </a:blipFill>
        </p:spPr>
      </p:sp>
      <p:sp>
        <p:nvSpPr>
          <p:cNvPr id="11" name="Freeform 6">
            <a:extLst>
              <a:ext uri="{FF2B5EF4-FFF2-40B4-BE49-F238E27FC236}">
                <a16:creationId xmlns:a16="http://schemas.microsoft.com/office/drawing/2014/main" id="{7C2CC3D6-D3BA-0738-93EA-82045CF6D146}"/>
              </a:ext>
            </a:extLst>
          </p:cNvPr>
          <p:cNvSpPr/>
          <p:nvPr/>
        </p:nvSpPr>
        <p:spPr>
          <a:xfrm>
            <a:off x="8367486" y="195942"/>
            <a:ext cx="3657600" cy="986972"/>
          </a:xfrm>
          <a:custGeom>
            <a:avLst/>
            <a:gdLst/>
            <a:ahLst/>
            <a:cxnLst/>
            <a:rect l="l" t="t" r="r" b="b"/>
            <a:pathLst>
              <a:path w="5727807" h="1433309">
                <a:moveTo>
                  <a:pt x="0" y="0"/>
                </a:moveTo>
                <a:lnTo>
                  <a:pt x="5727807" y="0"/>
                </a:lnTo>
                <a:lnTo>
                  <a:pt x="5727807" y="1433310"/>
                </a:lnTo>
                <a:lnTo>
                  <a:pt x="0" y="143331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4541"/>
            </a:stretch>
          </a:blipFill>
        </p:spPr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8388F3-76FE-7560-FCE0-4FFFE99FFB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23ABD9-E88D-4628-9C79-79D67CFFA512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1841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A0C0C2-1D70-6960-72D8-DE84BFB960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689D13-7A7D-D632-B6D9-39FB7CC19F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574159"/>
            <a:ext cx="9144000" cy="956930"/>
          </a:xfrm>
        </p:spPr>
        <p:txBody>
          <a:bodyPr>
            <a:norm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2FC832C-5047-A2F3-9030-FD32B38D29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79405" y="2147777"/>
            <a:ext cx="8537944" cy="4208572"/>
          </a:xfrm>
        </p:spPr>
        <p:txBody>
          <a:bodyPr>
            <a:normAutofit/>
          </a:bodyPr>
          <a:lstStyle/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 the performance of two algorithms: 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 A – O(n²)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 B – O(n³)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how execution steps increase with larger input sizes. Visualize the growth using tables and graphs. 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the more efficient algorithm</a:t>
            </a:r>
            <a:r>
              <a:rPr lang="en-IN" sz="2800" dirty="0"/>
              <a:t>.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9946617C-E1DF-B903-307C-0601F3C347F1}"/>
              </a:ext>
            </a:extLst>
          </p:cNvPr>
          <p:cNvSpPr/>
          <p:nvPr/>
        </p:nvSpPr>
        <p:spPr>
          <a:xfrm>
            <a:off x="130630" y="181429"/>
            <a:ext cx="2641600" cy="841829"/>
          </a:xfrm>
          <a:custGeom>
            <a:avLst/>
            <a:gdLst/>
            <a:ahLst/>
            <a:cxnLst/>
            <a:rect l="l" t="t" r="r" b="b"/>
            <a:pathLst>
              <a:path w="5730575" h="1433309">
                <a:moveTo>
                  <a:pt x="0" y="0"/>
                </a:moveTo>
                <a:lnTo>
                  <a:pt x="5730575" y="0"/>
                </a:lnTo>
                <a:lnTo>
                  <a:pt x="5730575" y="1433310"/>
                </a:lnTo>
                <a:lnTo>
                  <a:pt x="0" y="143331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104442"/>
            </a:stretch>
          </a:blipFill>
        </p:spPr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5442F58B-2E8D-D51D-E885-10A62F551CC9}"/>
              </a:ext>
            </a:extLst>
          </p:cNvPr>
          <p:cNvSpPr/>
          <p:nvPr/>
        </p:nvSpPr>
        <p:spPr>
          <a:xfrm>
            <a:off x="9245600" y="174171"/>
            <a:ext cx="2779486" cy="986972"/>
          </a:xfrm>
          <a:custGeom>
            <a:avLst/>
            <a:gdLst/>
            <a:ahLst/>
            <a:cxnLst/>
            <a:rect l="l" t="t" r="r" b="b"/>
            <a:pathLst>
              <a:path w="5727807" h="1433309">
                <a:moveTo>
                  <a:pt x="0" y="0"/>
                </a:moveTo>
                <a:lnTo>
                  <a:pt x="5727807" y="0"/>
                </a:lnTo>
                <a:lnTo>
                  <a:pt x="5727807" y="1433310"/>
                </a:lnTo>
                <a:lnTo>
                  <a:pt x="0" y="143331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4541"/>
            </a:stretch>
          </a:blipFill>
        </p:spPr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0172B5-45C4-5302-9F9C-0C981E3298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23ABD9-E88D-4628-9C79-79D67CFFA512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30908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0CC602-F56F-44C8-A915-DB78FB4C45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83A89E-20E5-F85E-147A-33078A649D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4799" y="967572"/>
            <a:ext cx="11640457" cy="956930"/>
          </a:xfrm>
        </p:spPr>
        <p:txBody>
          <a:bodyPr>
            <a:norm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Assumptions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F631F08-F61D-A2BA-FB76-A3DAFEB372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28376" y="1792515"/>
            <a:ext cx="8579967" cy="4579257"/>
          </a:xfrm>
        </p:spPr>
        <p:txBody>
          <a:bodyPr>
            <a:norm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Input size (n) ranges from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 to 100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Both algorithms process the same dataset.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and software environment remain constant.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Only theoretical time complexity is considered.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Number of operations is estimated using: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 A: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n²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 B: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n³</a:t>
            </a:r>
          </a:p>
          <a:p>
            <a:pPr marL="342900" indent="-342900" algn="l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53C28099-67E2-16B9-0DD6-C639A959A976}"/>
              </a:ext>
            </a:extLst>
          </p:cNvPr>
          <p:cNvSpPr/>
          <p:nvPr/>
        </p:nvSpPr>
        <p:spPr>
          <a:xfrm>
            <a:off x="130629" y="181429"/>
            <a:ext cx="3592285" cy="841829"/>
          </a:xfrm>
          <a:custGeom>
            <a:avLst/>
            <a:gdLst/>
            <a:ahLst/>
            <a:cxnLst/>
            <a:rect l="l" t="t" r="r" b="b"/>
            <a:pathLst>
              <a:path w="5730575" h="1433309">
                <a:moveTo>
                  <a:pt x="0" y="0"/>
                </a:moveTo>
                <a:lnTo>
                  <a:pt x="5730575" y="0"/>
                </a:lnTo>
                <a:lnTo>
                  <a:pt x="5730575" y="1433310"/>
                </a:lnTo>
                <a:lnTo>
                  <a:pt x="0" y="143331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104442"/>
            </a:stretch>
          </a:blipFill>
        </p:spPr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B9734480-0396-A371-16BB-65936ADA0CEE}"/>
              </a:ext>
            </a:extLst>
          </p:cNvPr>
          <p:cNvSpPr/>
          <p:nvPr/>
        </p:nvSpPr>
        <p:spPr>
          <a:xfrm>
            <a:off x="8569507" y="35946"/>
            <a:ext cx="3657600" cy="986972"/>
          </a:xfrm>
          <a:custGeom>
            <a:avLst/>
            <a:gdLst/>
            <a:ahLst/>
            <a:cxnLst/>
            <a:rect l="l" t="t" r="r" b="b"/>
            <a:pathLst>
              <a:path w="5727807" h="1433309">
                <a:moveTo>
                  <a:pt x="0" y="0"/>
                </a:moveTo>
                <a:lnTo>
                  <a:pt x="5727807" y="0"/>
                </a:lnTo>
                <a:lnTo>
                  <a:pt x="5727807" y="1433310"/>
                </a:lnTo>
                <a:lnTo>
                  <a:pt x="0" y="143331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4541"/>
            </a:stretch>
          </a:blipFill>
        </p:spPr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F20A0B-2A0E-2334-C3AD-060777FCC6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23ABD9-E88D-4628-9C79-79D67CFFA512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68982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6A7971-CC56-A629-E877-F2EDB61065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453D78-7B14-7E27-4CBC-5F9A66CA22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7078" y="875420"/>
            <a:ext cx="11640457" cy="956930"/>
          </a:xfrm>
        </p:spPr>
        <p:txBody>
          <a:bodyPr>
            <a:normAutofit/>
          </a:bodyPr>
          <a:lstStyle/>
          <a:p>
            <a:r>
              <a:rPr lang="en-IN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Comparison Table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8C85941-25EC-2B17-DA2C-196D486605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23ABD9-E88D-4628-9C79-79D67CFFA512}" type="slidenum">
              <a:rPr lang="en-IN" smtClean="0"/>
              <a:t>5</a:t>
            </a:fld>
            <a:endParaRPr lang="en-IN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F1F950F-0741-8061-5E50-F93B4387B9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1637757"/>
              </p:ext>
            </p:extLst>
          </p:nvPr>
        </p:nvGraphicFramePr>
        <p:xfrm>
          <a:off x="657726" y="1812758"/>
          <a:ext cx="10696074" cy="41709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5358">
                  <a:extLst>
                    <a:ext uri="{9D8B030D-6E8A-4147-A177-3AD203B41FA5}">
                      <a16:colId xmlns:a16="http://schemas.microsoft.com/office/drawing/2014/main" val="2734181631"/>
                    </a:ext>
                  </a:extLst>
                </a:gridCol>
                <a:gridCol w="3565358">
                  <a:extLst>
                    <a:ext uri="{9D8B030D-6E8A-4147-A177-3AD203B41FA5}">
                      <a16:colId xmlns:a16="http://schemas.microsoft.com/office/drawing/2014/main" val="1685081107"/>
                    </a:ext>
                  </a:extLst>
                </a:gridCol>
                <a:gridCol w="3565358">
                  <a:extLst>
                    <a:ext uri="{9D8B030D-6E8A-4147-A177-3AD203B41FA5}">
                      <a16:colId xmlns:a16="http://schemas.microsoft.com/office/drawing/2014/main" val="3688287653"/>
                    </a:ext>
                  </a:extLst>
                </a:gridCol>
              </a:tblGrid>
              <a:tr h="8341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Input Size (n)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O(n²)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O(n³)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44509298"/>
                  </a:ext>
                </a:extLst>
              </a:tr>
              <a:tr h="834189"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1000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0548742"/>
                  </a:ext>
                </a:extLst>
              </a:tr>
              <a:tr h="834189">
                <a:tc>
                  <a:txBody>
                    <a:bodyPr/>
                    <a:lstStyle/>
                    <a:p>
                      <a:r>
                        <a:rPr lang="en-US" dirty="0"/>
                        <a:t>20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400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8000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0197140"/>
                  </a:ext>
                </a:extLst>
              </a:tr>
              <a:tr h="834189">
                <a:tc>
                  <a:txBody>
                    <a:bodyPr/>
                    <a:lstStyle/>
                    <a:p>
                      <a:r>
                        <a:rPr lang="en-US" dirty="0"/>
                        <a:t>30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900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27000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7576511"/>
                  </a:ext>
                </a:extLst>
              </a:tr>
              <a:tr h="834189">
                <a:tc>
                  <a:txBody>
                    <a:bodyPr/>
                    <a:lstStyle/>
                    <a:p>
                      <a:r>
                        <a:rPr lang="en-US" dirty="0"/>
                        <a:t>40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16002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64000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2130878"/>
                  </a:ext>
                </a:extLst>
              </a:tr>
            </a:tbl>
          </a:graphicData>
        </a:graphic>
      </p:graphicFrame>
      <p:sp>
        <p:nvSpPr>
          <p:cNvPr id="12" name="Freeform 5">
            <a:extLst>
              <a:ext uri="{FF2B5EF4-FFF2-40B4-BE49-F238E27FC236}">
                <a16:creationId xmlns:a16="http://schemas.microsoft.com/office/drawing/2014/main" id="{08FA3A25-3C81-F89A-B874-AE4D34758293}"/>
              </a:ext>
            </a:extLst>
          </p:cNvPr>
          <p:cNvSpPr/>
          <p:nvPr/>
        </p:nvSpPr>
        <p:spPr>
          <a:xfrm>
            <a:off x="-7596" y="21938"/>
            <a:ext cx="3592285" cy="841829"/>
          </a:xfrm>
          <a:custGeom>
            <a:avLst/>
            <a:gdLst/>
            <a:ahLst/>
            <a:cxnLst/>
            <a:rect l="l" t="t" r="r" b="b"/>
            <a:pathLst>
              <a:path w="5730575" h="1433309">
                <a:moveTo>
                  <a:pt x="0" y="0"/>
                </a:moveTo>
                <a:lnTo>
                  <a:pt x="5730575" y="0"/>
                </a:lnTo>
                <a:lnTo>
                  <a:pt x="5730575" y="1433310"/>
                </a:lnTo>
                <a:lnTo>
                  <a:pt x="0" y="143331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104442"/>
            </a:stretch>
          </a:blipFill>
        </p:spPr>
      </p:sp>
      <p:sp>
        <p:nvSpPr>
          <p:cNvPr id="14" name="Freeform 6">
            <a:extLst>
              <a:ext uri="{FF2B5EF4-FFF2-40B4-BE49-F238E27FC236}">
                <a16:creationId xmlns:a16="http://schemas.microsoft.com/office/drawing/2014/main" id="{C9156D42-5966-64F3-C099-DC56F58B4CC9}"/>
              </a:ext>
            </a:extLst>
          </p:cNvPr>
          <p:cNvSpPr/>
          <p:nvPr/>
        </p:nvSpPr>
        <p:spPr>
          <a:xfrm>
            <a:off x="8495079" y="35943"/>
            <a:ext cx="3657600" cy="986972"/>
          </a:xfrm>
          <a:custGeom>
            <a:avLst/>
            <a:gdLst/>
            <a:ahLst/>
            <a:cxnLst/>
            <a:rect l="l" t="t" r="r" b="b"/>
            <a:pathLst>
              <a:path w="5727807" h="1433309">
                <a:moveTo>
                  <a:pt x="0" y="0"/>
                </a:moveTo>
                <a:lnTo>
                  <a:pt x="5727807" y="0"/>
                </a:lnTo>
                <a:lnTo>
                  <a:pt x="5727807" y="1433310"/>
                </a:lnTo>
                <a:lnTo>
                  <a:pt x="0" y="143331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4541"/>
            </a:stretch>
          </a:blipFill>
        </p:spPr>
      </p:sp>
    </p:spTree>
    <p:extLst>
      <p:ext uri="{BB962C8B-B14F-4D97-AF65-F5344CB8AC3E}">
        <p14:creationId xmlns:p14="http://schemas.microsoft.com/office/powerpoint/2010/main" val="23971081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297CF2-0F8A-8ADE-7D6E-AF1580A927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CC7885-44B3-395E-53B6-4B272A3EEE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7711" y="684031"/>
            <a:ext cx="11640457" cy="956930"/>
          </a:xfrm>
        </p:spPr>
        <p:txBody>
          <a:bodyPr>
            <a:normAutofit/>
          </a:bodyPr>
          <a:lstStyle/>
          <a:p>
            <a:r>
              <a:rPr lang="en-IN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Graphical Visualization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8DA28CF8-2DAB-2AE8-E0C7-F70FC793680B}"/>
              </a:ext>
            </a:extLst>
          </p:cNvPr>
          <p:cNvSpPr txBox="1">
            <a:spLocks/>
          </p:cNvSpPr>
          <p:nvPr/>
        </p:nvSpPr>
        <p:spPr>
          <a:xfrm>
            <a:off x="794513" y="2082127"/>
            <a:ext cx="5560488" cy="45792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50000"/>
              </a:lnSpc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06D06F1-CC2A-BD83-7AE8-60611866BB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23ABD9-E88D-4628-9C79-79D67CFFA512}" type="slidenum">
              <a:rPr lang="en-IN" smtClean="0"/>
              <a:t>6</a:t>
            </a:fld>
            <a:endParaRPr lang="en-IN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06AAC1CB-66F8-D6E1-9AE8-7DEE42182E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3619" y="1542245"/>
            <a:ext cx="8950003" cy="5146732"/>
          </a:xfrm>
          <a:prstGeom prst="rect">
            <a:avLst/>
          </a:prstGeom>
        </p:spPr>
      </p:pic>
      <p:sp>
        <p:nvSpPr>
          <p:cNvPr id="19" name="Freeform 6">
            <a:extLst>
              <a:ext uri="{FF2B5EF4-FFF2-40B4-BE49-F238E27FC236}">
                <a16:creationId xmlns:a16="http://schemas.microsoft.com/office/drawing/2014/main" id="{90F25848-0AEB-3CB1-EF91-D04DC092CE36}"/>
              </a:ext>
            </a:extLst>
          </p:cNvPr>
          <p:cNvSpPr/>
          <p:nvPr/>
        </p:nvSpPr>
        <p:spPr>
          <a:xfrm>
            <a:off x="8526980" y="4045"/>
            <a:ext cx="3657600" cy="986972"/>
          </a:xfrm>
          <a:custGeom>
            <a:avLst/>
            <a:gdLst/>
            <a:ahLst/>
            <a:cxnLst/>
            <a:rect l="l" t="t" r="r" b="b"/>
            <a:pathLst>
              <a:path w="5727807" h="1433309">
                <a:moveTo>
                  <a:pt x="0" y="0"/>
                </a:moveTo>
                <a:lnTo>
                  <a:pt x="5727807" y="0"/>
                </a:lnTo>
                <a:lnTo>
                  <a:pt x="5727807" y="1433310"/>
                </a:lnTo>
                <a:lnTo>
                  <a:pt x="0" y="143331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04541"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21" name="Freeform 5">
            <a:extLst>
              <a:ext uri="{FF2B5EF4-FFF2-40B4-BE49-F238E27FC236}">
                <a16:creationId xmlns:a16="http://schemas.microsoft.com/office/drawing/2014/main" id="{215244B6-7567-1538-5C0B-51C2C2906FF8}"/>
              </a:ext>
            </a:extLst>
          </p:cNvPr>
          <p:cNvSpPr/>
          <p:nvPr/>
        </p:nvSpPr>
        <p:spPr>
          <a:xfrm>
            <a:off x="-7596" y="677"/>
            <a:ext cx="3592285" cy="841829"/>
          </a:xfrm>
          <a:custGeom>
            <a:avLst/>
            <a:gdLst/>
            <a:ahLst/>
            <a:cxnLst/>
            <a:rect l="l" t="t" r="r" b="b"/>
            <a:pathLst>
              <a:path w="5730575" h="1433309">
                <a:moveTo>
                  <a:pt x="0" y="0"/>
                </a:moveTo>
                <a:lnTo>
                  <a:pt x="5730575" y="0"/>
                </a:lnTo>
                <a:lnTo>
                  <a:pt x="5730575" y="1433310"/>
                </a:lnTo>
                <a:lnTo>
                  <a:pt x="0" y="143331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r="-104442"/>
            </a:stretch>
          </a:blipFill>
        </p:spPr>
      </p:sp>
    </p:spTree>
    <p:extLst>
      <p:ext uri="{BB962C8B-B14F-4D97-AF65-F5344CB8AC3E}">
        <p14:creationId xmlns:p14="http://schemas.microsoft.com/office/powerpoint/2010/main" val="10122005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7B033D-F7BF-84A6-A7D9-96B992EB52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8554B1-9F7A-844B-58D6-760FB583C0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7711" y="396950"/>
            <a:ext cx="11640457" cy="956930"/>
          </a:xfrm>
        </p:spPr>
        <p:txBody>
          <a:bodyPr>
            <a:norm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Analysis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D93257BC-271B-A08F-6A3C-4D36C4041A1D}"/>
              </a:ext>
            </a:extLst>
          </p:cNvPr>
          <p:cNvSpPr txBox="1">
            <a:spLocks/>
          </p:cNvSpPr>
          <p:nvPr/>
        </p:nvSpPr>
        <p:spPr>
          <a:xfrm>
            <a:off x="2073352" y="1779182"/>
            <a:ext cx="8708065" cy="50788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Both algorithms require more operations as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 increases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O(n²)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grows moderately.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O(n³)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grows much faster.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 = 100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O(n²) =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10,000 operations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O(n³) =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1,000,000 operations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O(n³) performs about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100× more operations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than O(n²) at this input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siz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3818F64-1F70-5023-EC3A-FC898A3B7C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23ABD9-E88D-4628-9C79-79D67CFFA512}" type="slidenum">
              <a:rPr lang="en-IN" smtClean="0"/>
              <a:t>7</a:t>
            </a:fld>
            <a:endParaRPr lang="en-IN"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4F071E62-A3A2-3BC2-D3B2-FCFB76153879}"/>
              </a:ext>
            </a:extLst>
          </p:cNvPr>
          <p:cNvSpPr/>
          <p:nvPr/>
        </p:nvSpPr>
        <p:spPr>
          <a:xfrm>
            <a:off x="0" y="-28352"/>
            <a:ext cx="3592285" cy="841829"/>
          </a:xfrm>
          <a:custGeom>
            <a:avLst/>
            <a:gdLst/>
            <a:ahLst/>
            <a:cxnLst/>
            <a:rect l="l" t="t" r="r" b="b"/>
            <a:pathLst>
              <a:path w="5730575" h="1433309">
                <a:moveTo>
                  <a:pt x="0" y="0"/>
                </a:moveTo>
                <a:lnTo>
                  <a:pt x="5730575" y="0"/>
                </a:lnTo>
                <a:lnTo>
                  <a:pt x="5730575" y="1433310"/>
                </a:lnTo>
                <a:lnTo>
                  <a:pt x="0" y="143331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104442"/>
            </a:stretch>
          </a:blipFill>
        </p:spPr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CE707105-7FD2-B943-322E-276F664ECF0C}"/>
              </a:ext>
            </a:extLst>
          </p:cNvPr>
          <p:cNvSpPr/>
          <p:nvPr/>
        </p:nvSpPr>
        <p:spPr>
          <a:xfrm>
            <a:off x="8495079" y="35943"/>
            <a:ext cx="3657600" cy="986972"/>
          </a:xfrm>
          <a:custGeom>
            <a:avLst/>
            <a:gdLst/>
            <a:ahLst/>
            <a:cxnLst/>
            <a:rect l="l" t="t" r="r" b="b"/>
            <a:pathLst>
              <a:path w="5727807" h="1433309">
                <a:moveTo>
                  <a:pt x="0" y="0"/>
                </a:moveTo>
                <a:lnTo>
                  <a:pt x="5727807" y="0"/>
                </a:lnTo>
                <a:lnTo>
                  <a:pt x="5727807" y="1433310"/>
                </a:lnTo>
                <a:lnTo>
                  <a:pt x="0" y="143331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4541"/>
            </a:stretch>
          </a:blipFill>
        </p:spPr>
      </p:sp>
    </p:spTree>
    <p:extLst>
      <p:ext uri="{BB962C8B-B14F-4D97-AF65-F5344CB8AC3E}">
        <p14:creationId xmlns:p14="http://schemas.microsoft.com/office/powerpoint/2010/main" val="25143127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383A91-970A-9FF7-5121-E6F1266987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321A67-F287-6820-B122-5690BE0B2E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7711" y="396950"/>
            <a:ext cx="11640457" cy="956930"/>
          </a:xfrm>
        </p:spPr>
        <p:txBody>
          <a:bodyPr>
            <a:normAutofit/>
          </a:bodyPr>
          <a:lstStyle/>
          <a:p>
            <a:r>
              <a:rPr lang="en-IN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Justification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0CF2FB94-015A-1372-AA61-7B1A2638B1BC}"/>
              </a:ext>
            </a:extLst>
          </p:cNvPr>
          <p:cNvSpPr txBox="1">
            <a:spLocks/>
          </p:cNvSpPr>
          <p:nvPr/>
        </p:nvSpPr>
        <p:spPr>
          <a:xfrm>
            <a:off x="129590" y="2193009"/>
            <a:ext cx="10396643" cy="39029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50000"/>
              </a:lnSpc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D7747E0-7347-5E2F-EBE9-94F3A1434A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23ABD9-E88D-4628-9C79-79D67CFFA512}" type="slidenum">
              <a:rPr lang="en-IN" smtClean="0"/>
              <a:t>8</a:t>
            </a:fld>
            <a:endParaRPr lang="en-IN"/>
          </a:p>
        </p:txBody>
      </p:sp>
      <p:sp>
        <p:nvSpPr>
          <p:cNvPr id="5" name="Freeform 6">
            <a:extLst>
              <a:ext uri="{FF2B5EF4-FFF2-40B4-BE49-F238E27FC236}">
                <a16:creationId xmlns:a16="http://schemas.microsoft.com/office/drawing/2014/main" id="{9BD9EE43-04DE-E871-12A4-CEC735C01F89}"/>
              </a:ext>
            </a:extLst>
          </p:cNvPr>
          <p:cNvSpPr/>
          <p:nvPr/>
        </p:nvSpPr>
        <p:spPr>
          <a:xfrm>
            <a:off x="8495079" y="35943"/>
            <a:ext cx="3657600" cy="986972"/>
          </a:xfrm>
          <a:custGeom>
            <a:avLst/>
            <a:gdLst/>
            <a:ahLst/>
            <a:cxnLst/>
            <a:rect l="l" t="t" r="r" b="b"/>
            <a:pathLst>
              <a:path w="5727807" h="1433309">
                <a:moveTo>
                  <a:pt x="0" y="0"/>
                </a:moveTo>
                <a:lnTo>
                  <a:pt x="5727807" y="0"/>
                </a:lnTo>
                <a:lnTo>
                  <a:pt x="5727807" y="1433310"/>
                </a:lnTo>
                <a:lnTo>
                  <a:pt x="0" y="143331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4541"/>
            </a:stretch>
          </a:blipFill>
        </p:spPr>
      </p:sp>
      <p:sp>
        <p:nvSpPr>
          <p:cNvPr id="7" name="Freeform 5">
            <a:extLst>
              <a:ext uri="{FF2B5EF4-FFF2-40B4-BE49-F238E27FC236}">
                <a16:creationId xmlns:a16="http://schemas.microsoft.com/office/drawing/2014/main" id="{BA3CDEDB-D7AB-5BAD-C7D1-B41471A893BB}"/>
              </a:ext>
            </a:extLst>
          </p:cNvPr>
          <p:cNvSpPr/>
          <p:nvPr/>
        </p:nvSpPr>
        <p:spPr>
          <a:xfrm>
            <a:off x="-7596" y="677"/>
            <a:ext cx="3592285" cy="841829"/>
          </a:xfrm>
          <a:custGeom>
            <a:avLst/>
            <a:gdLst/>
            <a:ahLst/>
            <a:cxnLst/>
            <a:rect l="l" t="t" r="r" b="b"/>
            <a:pathLst>
              <a:path w="5730575" h="1433309">
                <a:moveTo>
                  <a:pt x="0" y="0"/>
                </a:moveTo>
                <a:lnTo>
                  <a:pt x="5730575" y="0"/>
                </a:lnTo>
                <a:lnTo>
                  <a:pt x="5730575" y="1433310"/>
                </a:lnTo>
                <a:lnTo>
                  <a:pt x="0" y="143331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104442"/>
            </a:stretch>
          </a:blipFill>
        </p:spPr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914FAEA-5303-A504-3FCB-FF840831CB30}"/>
              </a:ext>
            </a:extLst>
          </p:cNvPr>
          <p:cNvSpPr txBox="1"/>
          <p:nvPr/>
        </p:nvSpPr>
        <p:spPr>
          <a:xfrm>
            <a:off x="1052623" y="1117739"/>
            <a:ext cx="10396643" cy="50119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O(n²)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requires fewer operations than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O(n³)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the same input size, making it more efficient.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the input size increases,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O(n³)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grows much faster, leading to higher execution time.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comparison table and graph clearly show that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O(n²)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scales better for larger datasets.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Therefore,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O(n²)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the preferred algorithm because it provides better performance, scalability, and computational efficiency.</a:t>
            </a:r>
          </a:p>
        </p:txBody>
      </p:sp>
    </p:spTree>
    <p:extLst>
      <p:ext uri="{BB962C8B-B14F-4D97-AF65-F5344CB8AC3E}">
        <p14:creationId xmlns:p14="http://schemas.microsoft.com/office/powerpoint/2010/main" val="22823925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D82E00-8B2C-C90D-C25C-CA27F1CEEA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031B5B-1D77-DD49-6AFD-6FB0888336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17135" y="131133"/>
            <a:ext cx="7060018" cy="956930"/>
          </a:xfrm>
        </p:spPr>
        <p:txBody>
          <a:bodyPr>
            <a:norm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 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C36606A5-6AF0-1CFF-D70E-ECB302346833}"/>
              </a:ext>
            </a:extLst>
          </p:cNvPr>
          <p:cNvSpPr txBox="1">
            <a:spLocks/>
          </p:cNvSpPr>
          <p:nvPr/>
        </p:nvSpPr>
        <p:spPr>
          <a:xfrm>
            <a:off x="1212112" y="1541721"/>
            <a:ext cx="9898912" cy="481462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O(n²)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algorithm showed a slower growth in operations compared to the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O(n³)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algorithm as the input size increased. </a:t>
            </a:r>
          </a:p>
          <a:p>
            <a:pPr marL="342900" indent="-34290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O(n³)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algorithm required significantly more computations, especially for larger datasets. </a:t>
            </a:r>
          </a:p>
          <a:p>
            <a:pPr marL="342900" indent="-34290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comparison table and graph clearly demonstrated that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O(n³)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grows much faster than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O(n²)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indent="-34290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O(n²)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algorithm performed more efficiently and scaled better with increasing input sizes. </a:t>
            </a:r>
          </a:p>
          <a:p>
            <a:pPr marL="342900" indent="-34290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Overall, the analysis concluded that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O(n²)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the better choice for larger datasets due to its lower computational complexity and improved performance</a:t>
            </a:r>
          </a:p>
        </p:txBody>
      </p:sp>
      <p:sp>
        <p:nvSpPr>
          <p:cNvPr id="9" name="Freeform 5">
            <a:extLst>
              <a:ext uri="{FF2B5EF4-FFF2-40B4-BE49-F238E27FC236}">
                <a16:creationId xmlns:a16="http://schemas.microsoft.com/office/drawing/2014/main" id="{69BF0888-9AB9-1643-41D8-21B22CD10287}"/>
              </a:ext>
            </a:extLst>
          </p:cNvPr>
          <p:cNvSpPr/>
          <p:nvPr/>
        </p:nvSpPr>
        <p:spPr>
          <a:xfrm>
            <a:off x="130630" y="181429"/>
            <a:ext cx="2222710" cy="841829"/>
          </a:xfrm>
          <a:custGeom>
            <a:avLst/>
            <a:gdLst/>
            <a:ahLst/>
            <a:cxnLst/>
            <a:rect l="l" t="t" r="r" b="b"/>
            <a:pathLst>
              <a:path w="5730575" h="1433309">
                <a:moveTo>
                  <a:pt x="0" y="0"/>
                </a:moveTo>
                <a:lnTo>
                  <a:pt x="5730575" y="0"/>
                </a:lnTo>
                <a:lnTo>
                  <a:pt x="5730575" y="1433310"/>
                </a:lnTo>
                <a:lnTo>
                  <a:pt x="0" y="143331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104442"/>
            </a:stretch>
          </a:blipFill>
        </p:spPr>
      </p:sp>
      <p:sp>
        <p:nvSpPr>
          <p:cNvPr id="11" name="Freeform 6">
            <a:extLst>
              <a:ext uri="{FF2B5EF4-FFF2-40B4-BE49-F238E27FC236}">
                <a16:creationId xmlns:a16="http://schemas.microsoft.com/office/drawing/2014/main" id="{0DACE10F-C519-AFAF-75E3-DC99F02DCFC5}"/>
              </a:ext>
            </a:extLst>
          </p:cNvPr>
          <p:cNvSpPr/>
          <p:nvPr/>
        </p:nvSpPr>
        <p:spPr>
          <a:xfrm>
            <a:off x="9455888" y="174171"/>
            <a:ext cx="2569197" cy="986972"/>
          </a:xfrm>
          <a:custGeom>
            <a:avLst/>
            <a:gdLst/>
            <a:ahLst/>
            <a:cxnLst/>
            <a:rect l="l" t="t" r="r" b="b"/>
            <a:pathLst>
              <a:path w="5727807" h="1433309">
                <a:moveTo>
                  <a:pt x="0" y="0"/>
                </a:moveTo>
                <a:lnTo>
                  <a:pt x="5727807" y="0"/>
                </a:lnTo>
                <a:lnTo>
                  <a:pt x="5727807" y="1433310"/>
                </a:lnTo>
                <a:lnTo>
                  <a:pt x="0" y="143331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4541"/>
            </a:stretch>
          </a:blipFill>
        </p:spPr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41366F-F687-2E9A-F729-C914138611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23ABD9-E88D-4628-9C79-79D67CFFA512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46267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B1E9B2-5E59-4F5A-8AB8-779E65E47F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CCF3C0-46C0-DD2C-1F83-729053BAD6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7711" y="396950"/>
            <a:ext cx="11640457" cy="956930"/>
          </a:xfrm>
        </p:spPr>
        <p:txBody>
          <a:bodyPr>
            <a:norm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E6B5DC86-BCD4-610E-0223-883B42D3683E}"/>
              </a:ext>
            </a:extLst>
          </p:cNvPr>
          <p:cNvSpPr txBox="1">
            <a:spLocks/>
          </p:cNvSpPr>
          <p:nvPr/>
        </p:nvSpPr>
        <p:spPr>
          <a:xfrm>
            <a:off x="972120" y="1222574"/>
            <a:ext cx="10213331" cy="4579257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200000"/>
              </a:lnSpc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70000"/>
              </a:lnSpc>
              <a:buFont typeface="Wingdings" panose="05000000000000000000" pitchFamily="2" charset="2"/>
              <a:buChar char="§"/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complexity greatly affects algorithm performance.</a:t>
            </a:r>
          </a:p>
          <a:p>
            <a:pPr marL="342900" indent="-342900" algn="just">
              <a:lnSpc>
                <a:spcPct val="170000"/>
              </a:lnSpc>
              <a:buFont typeface="Wingdings" panose="05000000000000000000" pitchFamily="2" charset="2"/>
              <a:buChar char="§"/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 input size increases, </a:t>
            </a: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O(n³)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becomes much less efficient.</a:t>
            </a:r>
          </a:p>
          <a:p>
            <a:pPr marL="342900" indent="-342900" algn="just">
              <a:lnSpc>
                <a:spcPct val="170000"/>
              </a:lnSpc>
              <a:buFont typeface="Wingdings" panose="05000000000000000000" pitchFamily="2" charset="2"/>
              <a:buChar char="§"/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O(n²)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scales better and requires far fewer operations. </a:t>
            </a:r>
          </a:p>
          <a:p>
            <a:pPr marL="342900" indent="-342900" algn="just">
              <a:lnSpc>
                <a:spcPct val="170000"/>
              </a:lnSpc>
              <a:buFont typeface="Wingdings" panose="05000000000000000000" pitchFamily="2" charset="2"/>
              <a:buChar char="§"/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Therefore, </a:t>
            </a: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O(n²) is the preferred algorithm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larger datasets due to its lower computational complexity.</a:t>
            </a:r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293E11FF-9A5E-08A2-9EF4-26C179ED1CF0}"/>
              </a:ext>
            </a:extLst>
          </p:cNvPr>
          <p:cNvSpPr/>
          <p:nvPr/>
        </p:nvSpPr>
        <p:spPr>
          <a:xfrm>
            <a:off x="130630" y="181429"/>
            <a:ext cx="3236348" cy="841829"/>
          </a:xfrm>
          <a:custGeom>
            <a:avLst/>
            <a:gdLst/>
            <a:ahLst/>
            <a:cxnLst/>
            <a:rect l="l" t="t" r="r" b="b"/>
            <a:pathLst>
              <a:path w="5730575" h="1433309">
                <a:moveTo>
                  <a:pt x="0" y="0"/>
                </a:moveTo>
                <a:lnTo>
                  <a:pt x="5730575" y="0"/>
                </a:lnTo>
                <a:lnTo>
                  <a:pt x="5730575" y="1433310"/>
                </a:lnTo>
                <a:lnTo>
                  <a:pt x="0" y="143331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104442"/>
            </a:stretch>
          </a:blipFill>
        </p:spPr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147A883B-EB21-B206-6328-F7F983B0B926}"/>
              </a:ext>
            </a:extLst>
          </p:cNvPr>
          <p:cNvSpPr/>
          <p:nvPr/>
        </p:nvSpPr>
        <p:spPr>
          <a:xfrm>
            <a:off x="8775404" y="174171"/>
            <a:ext cx="3249681" cy="986972"/>
          </a:xfrm>
          <a:custGeom>
            <a:avLst/>
            <a:gdLst/>
            <a:ahLst/>
            <a:cxnLst/>
            <a:rect l="l" t="t" r="r" b="b"/>
            <a:pathLst>
              <a:path w="5727807" h="1433309">
                <a:moveTo>
                  <a:pt x="0" y="0"/>
                </a:moveTo>
                <a:lnTo>
                  <a:pt x="5727807" y="0"/>
                </a:lnTo>
                <a:lnTo>
                  <a:pt x="5727807" y="1433310"/>
                </a:lnTo>
                <a:lnTo>
                  <a:pt x="0" y="143331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4541"/>
            </a:stretch>
          </a:blipFill>
        </p:spPr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C70639E-E84C-9380-6360-7C7970FC7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23ABD9-E88D-4628-9C79-79D67CFFA512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34722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02D78F-9183-AFF8-6DF2-8F31A74E19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B7CB0B-ABAA-36AB-2D10-75F8F83EE6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68501" y="2565992"/>
            <a:ext cx="6083173" cy="956930"/>
          </a:xfrm>
        </p:spPr>
        <p:txBody>
          <a:bodyPr>
            <a:norm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701C77C-3CEC-8634-2C28-4DBACA571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23ABD9-E88D-4628-9C79-79D67CFFA512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35066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244</TotalTime>
  <Words>583</Words>
  <Application>Microsoft Office PowerPoint</Application>
  <PresentationFormat>Widescreen</PresentationFormat>
  <Paragraphs>77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Aptos</vt:lpstr>
      <vt:lpstr>Arial</vt:lpstr>
      <vt:lpstr>Calibri</vt:lpstr>
      <vt:lpstr>Calibri Light</vt:lpstr>
      <vt:lpstr>Times New Roman</vt:lpstr>
      <vt:lpstr>Wingdings</vt:lpstr>
      <vt:lpstr>Office Theme</vt:lpstr>
      <vt:lpstr>Algorithm Comparison Based on Input Size Scaling Comparing Time Complexities: O(n²) vs O(n³) </vt:lpstr>
      <vt:lpstr>Introduction</vt:lpstr>
      <vt:lpstr>Objective</vt:lpstr>
      <vt:lpstr>Dataset Assumptions</vt:lpstr>
      <vt:lpstr>Performance Comparison Table</vt:lpstr>
      <vt:lpstr>Graphical Visualization</vt:lpstr>
      <vt:lpstr>Analysis</vt:lpstr>
      <vt:lpstr>Justification</vt:lpstr>
      <vt:lpstr>Result </vt:lpstr>
      <vt:lpstr>Conclusion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pushpacharitha papagari</dc:creator>
  <cp:lastModifiedBy>Prateeksha S</cp:lastModifiedBy>
  <cp:revision>15</cp:revision>
  <dcterms:created xsi:type="dcterms:W3CDTF">2026-06-16T07:21:40Z</dcterms:created>
  <dcterms:modified xsi:type="dcterms:W3CDTF">2026-07-20T15:32:31Z</dcterms:modified>
</cp:coreProperties>
</file>